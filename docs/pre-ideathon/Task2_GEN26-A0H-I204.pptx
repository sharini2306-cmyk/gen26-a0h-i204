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4B4329-093F-4E35-BDCA-7BA2BC21C616}" v="2" dt="2026-10-09T15:55:42.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13"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Harini" userId="a05e63ab5c3b83cc" providerId="LiveId" clId="{4CC15817-CEBD-40EF-A22F-413A3AC07FA2}"/>
    <pc:docChg chg="undo redo custSel modSld">
      <pc:chgData name="S Harini" userId="a05e63ab5c3b83cc" providerId="LiveId" clId="{4CC15817-CEBD-40EF-A22F-413A3AC07FA2}" dt="2026-10-10T05:18:47.728" v="993" actId="767"/>
      <pc:docMkLst>
        <pc:docMk/>
      </pc:docMkLst>
      <pc:sldChg chg="addSp modSp mod">
        <pc:chgData name="S Harini" userId="a05e63ab5c3b83cc" providerId="LiveId" clId="{4CC15817-CEBD-40EF-A22F-413A3AC07FA2}" dt="2026-10-10T05:18:47.728" v="993" actId="767"/>
        <pc:sldMkLst>
          <pc:docMk/>
          <pc:sldMk cId="0" sldId="256"/>
        </pc:sldMkLst>
        <pc:spChg chg="mod">
          <ac:chgData name="S Harini" userId="a05e63ab5c3b83cc" providerId="LiveId" clId="{4CC15817-CEBD-40EF-A22F-413A3AC07FA2}" dt="2026-10-09T12:52:54.457" v="695" actId="20577"/>
          <ac:spMkLst>
            <pc:docMk/>
            <pc:sldMk cId="0" sldId="256"/>
            <ac:spMk id="15" creationId="{00000000-0000-0000-0000-000000000000}"/>
          </ac:spMkLst>
        </pc:spChg>
        <pc:spChg chg="add mod">
          <ac:chgData name="S Harini" userId="a05e63ab5c3b83cc" providerId="LiveId" clId="{4CC15817-CEBD-40EF-A22F-413A3AC07FA2}" dt="2026-10-10T05:18:47.728" v="993" actId="767"/>
          <ac:spMkLst>
            <pc:docMk/>
            <pc:sldMk cId="0" sldId="256"/>
            <ac:spMk id="16" creationId="{A4D9800F-BB0B-E1B4-9401-2649363A6E7A}"/>
          </ac:spMkLst>
        </pc:spChg>
      </pc:sldChg>
      <pc:sldChg chg="modSp mod">
        <pc:chgData name="S Harini" userId="a05e63ab5c3b83cc" providerId="LiveId" clId="{4CC15817-CEBD-40EF-A22F-413A3AC07FA2}" dt="2026-10-09T11:42:34.249" v="325" actId="27636"/>
        <pc:sldMkLst>
          <pc:docMk/>
          <pc:sldMk cId="0" sldId="257"/>
        </pc:sldMkLst>
        <pc:spChg chg="mod">
          <ac:chgData name="S Harini" userId="a05e63ab5c3b83cc" providerId="LiveId" clId="{4CC15817-CEBD-40EF-A22F-413A3AC07FA2}" dt="2026-10-09T11:34:55.900" v="230" actId="1076"/>
          <ac:spMkLst>
            <pc:docMk/>
            <pc:sldMk cId="0" sldId="257"/>
            <ac:spMk id="3" creationId="{00000000-0000-0000-0000-000000000000}"/>
          </ac:spMkLst>
        </pc:spChg>
        <pc:spChg chg="mod">
          <ac:chgData name="S Harini" userId="a05e63ab5c3b83cc" providerId="LiveId" clId="{4CC15817-CEBD-40EF-A22F-413A3AC07FA2}" dt="2026-10-09T11:42:34.249" v="325" actId="27636"/>
          <ac:spMkLst>
            <pc:docMk/>
            <pc:sldMk cId="0" sldId="257"/>
            <ac:spMk id="6" creationId="{00000000-0000-0000-0000-000000000000}"/>
          </ac:spMkLst>
        </pc:spChg>
      </pc:sldChg>
      <pc:sldChg chg="modSp mod">
        <pc:chgData name="S Harini" userId="a05e63ab5c3b83cc" providerId="LiveId" clId="{4CC15817-CEBD-40EF-A22F-413A3AC07FA2}" dt="2026-10-09T11:44:19.411" v="350" actId="12"/>
        <pc:sldMkLst>
          <pc:docMk/>
          <pc:sldMk cId="0" sldId="258"/>
        </pc:sldMkLst>
        <pc:spChg chg="mod">
          <ac:chgData name="S Harini" userId="a05e63ab5c3b83cc" providerId="LiveId" clId="{4CC15817-CEBD-40EF-A22F-413A3AC07FA2}" dt="2026-10-09T11:42:55.593" v="329" actId="20577"/>
          <ac:spMkLst>
            <pc:docMk/>
            <pc:sldMk cId="0" sldId="258"/>
            <ac:spMk id="6" creationId="{00000000-0000-0000-0000-000000000000}"/>
          </ac:spMkLst>
        </pc:spChg>
        <pc:spChg chg="mod">
          <ac:chgData name="S Harini" userId="a05e63ab5c3b83cc" providerId="LiveId" clId="{4CC15817-CEBD-40EF-A22F-413A3AC07FA2}" dt="2026-10-09T11:44:19.411" v="350" actId="12"/>
          <ac:spMkLst>
            <pc:docMk/>
            <pc:sldMk cId="0" sldId="258"/>
            <ac:spMk id="10" creationId="{00000000-0000-0000-0000-000000000000}"/>
          </ac:spMkLst>
        </pc:spChg>
      </pc:sldChg>
      <pc:sldChg chg="addSp delSp modSp mod">
        <pc:chgData name="S Harini" userId="a05e63ab5c3b83cc" providerId="LiveId" clId="{4CC15817-CEBD-40EF-A22F-413A3AC07FA2}" dt="2026-10-09T11:44:03.262" v="346" actId="12"/>
        <pc:sldMkLst>
          <pc:docMk/>
          <pc:sldMk cId="0" sldId="259"/>
        </pc:sldMkLst>
        <pc:spChg chg="mod">
          <ac:chgData name="S Harini" userId="a05e63ab5c3b83cc" providerId="LiveId" clId="{4CC15817-CEBD-40EF-A22F-413A3AC07FA2}" dt="2026-10-09T11:41:57.731" v="319" actId="20577"/>
          <ac:spMkLst>
            <pc:docMk/>
            <pc:sldMk cId="0" sldId="259"/>
            <ac:spMk id="6" creationId="{00000000-0000-0000-0000-000000000000}"/>
          </ac:spMkLst>
        </pc:spChg>
        <pc:spChg chg="add del mod">
          <ac:chgData name="S Harini" userId="a05e63ab5c3b83cc" providerId="LiveId" clId="{4CC15817-CEBD-40EF-A22F-413A3AC07FA2}" dt="2026-10-09T11:44:03.262" v="346" actId="12"/>
          <ac:spMkLst>
            <pc:docMk/>
            <pc:sldMk cId="0" sldId="259"/>
            <ac:spMk id="10" creationId="{00000000-0000-0000-0000-000000000000}"/>
          </ac:spMkLst>
        </pc:spChg>
        <pc:picChg chg="del">
          <ac:chgData name="S Harini" userId="a05e63ab5c3b83cc" providerId="LiveId" clId="{4CC15817-CEBD-40EF-A22F-413A3AC07FA2}" dt="2026-10-09T11:40:10.929" v="268" actId="478"/>
          <ac:picMkLst>
            <pc:docMk/>
            <pc:sldMk cId="0" sldId="259"/>
            <ac:picMk id="11" creationId="{E515C3A2-07A4-973F-0AE0-2151108F9A41}"/>
          </ac:picMkLst>
        </pc:picChg>
      </pc:sldChg>
      <pc:sldChg chg="modSp mod">
        <pc:chgData name="S Harini" userId="a05e63ab5c3b83cc" providerId="LiveId" clId="{4CC15817-CEBD-40EF-A22F-413A3AC07FA2}" dt="2026-10-09T12:26:19.600" v="594" actId="113"/>
        <pc:sldMkLst>
          <pc:docMk/>
          <pc:sldMk cId="0" sldId="260"/>
        </pc:sldMkLst>
        <pc:spChg chg="mod">
          <ac:chgData name="S Harini" userId="a05e63ab5c3b83cc" providerId="LiveId" clId="{4CC15817-CEBD-40EF-A22F-413A3AC07FA2}" dt="2026-10-09T11:42:46.346" v="328" actId="255"/>
          <ac:spMkLst>
            <pc:docMk/>
            <pc:sldMk cId="0" sldId="260"/>
            <ac:spMk id="6" creationId="{00000000-0000-0000-0000-000000000000}"/>
          </ac:spMkLst>
        </pc:spChg>
        <pc:spChg chg="mod">
          <ac:chgData name="S Harini" userId="a05e63ab5c3b83cc" providerId="LiveId" clId="{4CC15817-CEBD-40EF-A22F-413A3AC07FA2}" dt="2026-10-09T12:26:19.600" v="594" actId="113"/>
          <ac:spMkLst>
            <pc:docMk/>
            <pc:sldMk cId="0" sldId="260"/>
            <ac:spMk id="10" creationId="{00000000-0000-0000-0000-000000000000}"/>
          </ac:spMkLst>
        </pc:spChg>
      </pc:sldChg>
      <pc:sldChg chg="modSp mod">
        <pc:chgData name="S Harini" userId="a05e63ab5c3b83cc" providerId="LiveId" clId="{4CC15817-CEBD-40EF-A22F-413A3AC07FA2}" dt="2026-10-09T12:29:15.235" v="610" actId="20577"/>
        <pc:sldMkLst>
          <pc:docMk/>
          <pc:sldMk cId="0" sldId="261"/>
        </pc:sldMkLst>
        <pc:spChg chg="mod">
          <ac:chgData name="S Harini" userId="a05e63ab5c3b83cc" providerId="LiveId" clId="{4CC15817-CEBD-40EF-A22F-413A3AC07FA2}" dt="2026-10-09T11:44:56.669" v="397" actId="20577"/>
          <ac:spMkLst>
            <pc:docMk/>
            <pc:sldMk cId="0" sldId="261"/>
            <ac:spMk id="6" creationId="{00000000-0000-0000-0000-000000000000}"/>
          </ac:spMkLst>
        </pc:spChg>
        <pc:spChg chg="mod">
          <ac:chgData name="S Harini" userId="a05e63ab5c3b83cc" providerId="LiveId" clId="{4CC15817-CEBD-40EF-A22F-413A3AC07FA2}" dt="2026-10-09T12:29:15.235" v="610" actId="20577"/>
          <ac:spMkLst>
            <pc:docMk/>
            <pc:sldMk cId="0" sldId="261"/>
            <ac:spMk id="10" creationId="{00000000-0000-0000-0000-000000000000}"/>
          </ac:spMkLst>
        </pc:spChg>
      </pc:sldChg>
      <pc:sldChg chg="modSp mod">
        <pc:chgData name="S Harini" userId="a05e63ab5c3b83cc" providerId="LiveId" clId="{4CC15817-CEBD-40EF-A22F-413A3AC07FA2}" dt="2026-10-09T12:37:22.878" v="663" actId="20577"/>
        <pc:sldMkLst>
          <pc:docMk/>
          <pc:sldMk cId="0" sldId="262"/>
        </pc:sldMkLst>
        <pc:spChg chg="mod">
          <ac:chgData name="S Harini" userId="a05e63ab5c3b83cc" providerId="LiveId" clId="{4CC15817-CEBD-40EF-A22F-413A3AC07FA2}" dt="2026-10-09T11:45:10.660" v="422" actId="20577"/>
          <ac:spMkLst>
            <pc:docMk/>
            <pc:sldMk cId="0" sldId="262"/>
            <ac:spMk id="6" creationId="{00000000-0000-0000-0000-000000000000}"/>
          </ac:spMkLst>
        </pc:spChg>
        <pc:spChg chg="mod">
          <ac:chgData name="S Harini" userId="a05e63ab5c3b83cc" providerId="LiveId" clId="{4CC15817-CEBD-40EF-A22F-413A3AC07FA2}" dt="2026-10-09T12:36:00.467" v="633" actId="14100"/>
          <ac:spMkLst>
            <pc:docMk/>
            <pc:sldMk cId="0" sldId="262"/>
            <ac:spMk id="9" creationId="{00000000-0000-0000-0000-000000000000}"/>
          </ac:spMkLst>
        </pc:spChg>
        <pc:spChg chg="mod">
          <ac:chgData name="S Harini" userId="a05e63ab5c3b83cc" providerId="LiveId" clId="{4CC15817-CEBD-40EF-A22F-413A3AC07FA2}" dt="2026-10-09T12:37:22.878" v="663" actId="20577"/>
          <ac:spMkLst>
            <pc:docMk/>
            <pc:sldMk cId="0" sldId="262"/>
            <ac:spMk id="10" creationId="{00000000-0000-0000-0000-000000000000}"/>
          </ac:spMkLst>
        </pc:spChg>
        <pc:picChg chg="mod">
          <ac:chgData name="S Harini" userId="a05e63ab5c3b83cc" providerId="LiveId" clId="{4CC15817-CEBD-40EF-A22F-413A3AC07FA2}" dt="2026-10-09T12:36:03.425" v="634" actId="14100"/>
          <ac:picMkLst>
            <pc:docMk/>
            <pc:sldMk cId="0" sldId="262"/>
            <ac:picMk id="8" creationId="{00000000-0000-0000-0000-000000000000}"/>
          </ac:picMkLst>
        </pc:picChg>
      </pc:sldChg>
      <pc:sldChg chg="addSp delSp modSp mod">
        <pc:chgData name="S Harini" userId="a05e63ab5c3b83cc" providerId="LiveId" clId="{4CC15817-CEBD-40EF-A22F-413A3AC07FA2}" dt="2026-10-09T12:38:46.469" v="678" actId="12"/>
        <pc:sldMkLst>
          <pc:docMk/>
          <pc:sldMk cId="0" sldId="263"/>
        </pc:sldMkLst>
        <pc:spChg chg="add del mod">
          <ac:chgData name="S Harini" userId="a05e63ab5c3b83cc" providerId="LiveId" clId="{4CC15817-CEBD-40EF-A22F-413A3AC07FA2}" dt="2026-10-09T11:45:44.163" v="473" actId="20577"/>
          <ac:spMkLst>
            <pc:docMk/>
            <pc:sldMk cId="0" sldId="263"/>
            <ac:spMk id="6" creationId="{00000000-0000-0000-0000-000000000000}"/>
          </ac:spMkLst>
        </pc:spChg>
        <pc:spChg chg="mod">
          <ac:chgData name="S Harini" userId="a05e63ab5c3b83cc" providerId="LiveId" clId="{4CC15817-CEBD-40EF-A22F-413A3AC07FA2}" dt="2026-10-09T12:38:46.469" v="678" actId="12"/>
          <ac:spMkLst>
            <pc:docMk/>
            <pc:sldMk cId="0" sldId="263"/>
            <ac:spMk id="10" creationId="{00000000-0000-0000-0000-000000000000}"/>
          </ac:spMkLst>
        </pc:spChg>
      </pc:sldChg>
      <pc:sldChg chg="modSp mod">
        <pc:chgData name="S Harini" userId="a05e63ab5c3b83cc" providerId="LiveId" clId="{4CC15817-CEBD-40EF-A22F-413A3AC07FA2}" dt="2026-10-09T15:56:10.024" v="992" actId="20577"/>
        <pc:sldMkLst>
          <pc:docMk/>
          <pc:sldMk cId="0" sldId="264"/>
        </pc:sldMkLst>
        <pc:spChg chg="mod">
          <ac:chgData name="S Harini" userId="a05e63ab5c3b83cc" providerId="LiveId" clId="{4CC15817-CEBD-40EF-A22F-413A3AC07FA2}" dt="2026-10-09T12:20:08.862" v="513" actId="20577"/>
          <ac:spMkLst>
            <pc:docMk/>
            <pc:sldMk cId="0" sldId="264"/>
            <ac:spMk id="6" creationId="{00000000-0000-0000-0000-000000000000}"/>
          </ac:spMkLst>
        </pc:spChg>
        <pc:graphicFrameChg chg="mod modGraphic">
          <ac:chgData name="S Harini" userId="a05e63ab5c3b83cc" providerId="LiveId" clId="{4CC15817-CEBD-40EF-A22F-413A3AC07FA2}" dt="2026-10-09T15:56:10.024" v="992" actId="20577"/>
          <ac:graphicFrameMkLst>
            <pc:docMk/>
            <pc:sldMk cId="0" sldId="264"/>
            <ac:graphicFrameMk id="10"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4888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182880" y="3108960"/>
            <a:ext cx="6035040" cy="320040"/>
          </a:xfrm>
          <a:prstGeom prst="rect">
            <a:avLst/>
          </a:prstGeom>
          <a:noFill/>
          <a:ln/>
        </p:spPr>
        <p:txBody>
          <a:bodyPr wrap="square" lIns="0" tIns="0" rIns="0" bIns="0" rtlCol="0" anchor="ctr"/>
          <a:lstStyle/>
          <a:p>
            <a:pPr marL="0" indent="0">
              <a:buNone/>
            </a:pPr>
            <a:endParaRPr lang="en-US" sz="1600" dirty="0"/>
          </a:p>
        </p:txBody>
      </p:sp>
      <p:sp>
        <p:nvSpPr>
          <p:cNvPr id="15" name="Cover Fields"/>
          <p:cNvSpPr txBox="1"/>
          <p:nvPr/>
        </p:nvSpPr>
        <p:spPr>
          <a:xfrm>
            <a:off x="548640" y="2990088"/>
            <a:ext cx="6035040" cy="2598616"/>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BYTEBLAZE</a:t>
            </a:r>
            <a:endParaRPr lang="en-US" sz="1800" dirty="0"/>
          </a:p>
          <a:p>
            <a:pPr marL="279400" indent="-279400">
              <a:spcAft>
                <a:spcPts val="1400"/>
              </a:spcAft>
              <a:buClr>
                <a:schemeClr val="accent3"/>
              </a:buClr>
              <a:buSzPct val="100000"/>
              <a:buChar char="•"/>
            </a:pPr>
            <a:r>
              <a:rPr lang="en-US" sz="1800" dirty="0">
                <a:solidFill>
                  <a:schemeClr val="bg1"/>
                </a:solidFill>
              </a:rPr>
              <a:t>Team Members –</a:t>
            </a:r>
          </a:p>
          <a:p>
            <a:pPr>
              <a:spcAft>
                <a:spcPts val="1400"/>
              </a:spcAft>
              <a:buClr>
                <a:schemeClr val="accent3"/>
              </a:buClr>
              <a:buSzPct val="100000"/>
            </a:pPr>
            <a:r>
              <a:rPr lang="en-US" dirty="0">
                <a:solidFill>
                  <a:schemeClr val="bg1"/>
                </a:solidFill>
              </a:rPr>
              <a:t>1.Harini.S - CB.SC.U4CSE26720        </a:t>
            </a:r>
          </a:p>
          <a:p>
            <a:pPr>
              <a:spcAft>
                <a:spcPts val="1400"/>
              </a:spcAft>
              <a:buClr>
                <a:schemeClr val="accent3"/>
              </a:buClr>
              <a:buSzPct val="100000"/>
            </a:pPr>
            <a:r>
              <a:rPr lang="en-US" dirty="0">
                <a:solidFill>
                  <a:schemeClr val="bg1"/>
                </a:solidFill>
              </a:rPr>
              <a:t>2..Nikitha Varshini Parthiban - CB.SC.U4CSE26739         3.Lasyapriya.C - CB.SC.U4CSE26769 </a:t>
            </a:r>
          </a:p>
          <a:p>
            <a:pPr>
              <a:spcAft>
                <a:spcPts val="1400"/>
              </a:spcAft>
              <a:buClr>
                <a:schemeClr val="accent3"/>
              </a:buClr>
              <a:buSzPct val="100000"/>
            </a:pPr>
            <a:r>
              <a:rPr lang="en-US" dirty="0">
                <a:solidFill>
                  <a:schemeClr val="bg1"/>
                </a:solidFill>
              </a:rPr>
              <a:t>4.Riduvarshini.D - CB.SC.U4CSE26342</a:t>
            </a:r>
          </a:p>
          <a:p>
            <a:pPr>
              <a:spcAft>
                <a:spcPts val="1400"/>
              </a:spcAft>
              <a:buClr>
                <a:schemeClr val="accent3"/>
              </a:buClr>
              <a:buSzPct val="100000"/>
            </a:pPr>
            <a:r>
              <a:rPr lang="en-US" sz="1800" dirty="0">
                <a:solidFill>
                  <a:schemeClr val="bg1"/>
                </a:solidFill>
              </a:rPr>
              <a:t>Selected Domain –</a:t>
            </a:r>
            <a:r>
              <a:rPr lang="en-US" dirty="0">
                <a:solidFill>
                  <a:schemeClr val="bg1"/>
                </a:solidFill>
              </a:rPr>
              <a:t> Intelligent Systems &amp; Digital Futures</a:t>
            </a:r>
            <a:endParaRPr lang="en-US" sz="1800" dirty="0"/>
          </a:p>
          <a:p>
            <a:pPr marL="279400" indent="-279400">
              <a:spcAft>
                <a:spcPts val="1400"/>
              </a:spcAft>
              <a:buClr>
                <a:schemeClr val="accent3"/>
              </a:buClr>
              <a:buSzPct val="100000"/>
              <a:buChar char="•"/>
            </a:pPr>
            <a:r>
              <a:rPr lang="en-US" sz="1800" dirty="0">
                <a:solidFill>
                  <a:schemeClr val="bg1"/>
                </a:solidFill>
              </a:rPr>
              <a:t>Problem Statement – </a:t>
            </a:r>
            <a:r>
              <a:rPr lang="en-GB" dirty="0">
                <a:solidFill>
                  <a:schemeClr val="bg1"/>
                </a:solidFill>
              </a:rPr>
              <a:t>Creating a tool that identifies suspicious   links, phishing messages, fake websites and unsafe emails before students interact with them.</a:t>
            </a:r>
            <a:endParaRPr lang="en-US" sz="1800" dirty="0"/>
          </a:p>
        </p:txBody>
      </p:sp>
      <p:sp>
        <p:nvSpPr>
          <p:cNvPr id="16" name="TextBox 15">
            <a:extLst>
              <a:ext uri="{FF2B5EF4-FFF2-40B4-BE49-F238E27FC236}">
                <a16:creationId xmlns:a16="http://schemas.microsoft.com/office/drawing/2014/main" id="{A4D9800F-BB0B-E1B4-9401-2649363A6E7A}"/>
              </a:ext>
            </a:extLst>
          </p:cNvPr>
          <p:cNvSpPr txBox="1"/>
          <p:nvPr/>
        </p:nvSpPr>
        <p:spPr>
          <a:xfrm>
            <a:off x="4777273" y="2752531"/>
            <a:ext cx="184731" cy="369332"/>
          </a:xfrm>
          <a:prstGeom prst="rect">
            <a:avLst/>
          </a:prstGeom>
          <a:noFill/>
        </p:spPr>
        <p:txBody>
          <a:bodyPr wrap="none" rtlCol="0">
            <a:spAutoFit/>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521208" y="269123"/>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80744" y="252206"/>
            <a:ext cx="1627632" cy="694944"/>
          </a:xfrm>
          <a:prstGeom prst="rect">
            <a:avLst/>
          </a:prstGeom>
          <a:noFill/>
          <a:ln/>
        </p:spPr>
        <p:txBody>
          <a:bodyPr wrap="square" lIns="0" tIns="0" rIns="0" bIns="0" rtlCol="0" anchor="ctr">
            <a:normAutofit fontScale="92500" lnSpcReduction="20000"/>
          </a:bodyPr>
          <a:lstStyle/>
          <a:p>
            <a:endParaRPr lang="en-US" sz="1200" b="1" kern="0" spc="300" dirty="0">
              <a:solidFill>
                <a:schemeClr val="accent5"/>
              </a:solidFill>
            </a:endParaRPr>
          </a:p>
          <a:p>
            <a:r>
              <a:rPr lang="en-US" sz="1200" b="1" kern="0" spc="300" dirty="0">
                <a:solidFill>
                  <a:schemeClr val="accent5"/>
                </a:solidFill>
              </a:rPr>
              <a:t>TEAM</a:t>
            </a:r>
            <a:endParaRPr lang="en-US" sz="1200" dirty="0"/>
          </a:p>
          <a:p>
            <a:pPr marL="0" indent="0">
              <a:buNone/>
            </a:pPr>
            <a:endParaRPr lang="en-US" sz="1500" b="1" dirty="0">
              <a:solidFill>
                <a:schemeClr val="accent1"/>
              </a:solidFill>
            </a:endParaRPr>
          </a:p>
          <a:p>
            <a:pPr marL="0" indent="0">
              <a:buNone/>
            </a:pPr>
            <a:r>
              <a:rPr lang="en-US" b="1" dirty="0">
                <a:solidFill>
                  <a:schemeClr val="accent1"/>
                </a:solidFill>
              </a:rPr>
              <a:t>BYTEBLAZE</a:t>
            </a:r>
            <a:endParaRPr lang="en-US"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p>
          <a:p>
            <a:pPr marL="279400" indent="-279400">
              <a:spcAft>
                <a:spcPts val="1000"/>
              </a:spcAft>
              <a:buClr>
                <a:schemeClr val="accent1"/>
              </a:buClr>
              <a:buSzPct val="100000"/>
              <a:buChar char="•"/>
            </a:pPr>
            <a:r>
              <a:rPr lang="en-GB" dirty="0"/>
              <a:t>Students frequently encounter phishing links, fake websites, malicious messages, and unsafe emails that can steal personal information or cause financial loss. There is a need for an AI-powered tool that detects such threats and alerts students before they interact with them, while clearly explaining the potential risk.</a:t>
            </a:r>
          </a:p>
          <a:p>
            <a:pPr>
              <a:spcAft>
                <a:spcPts val="1000"/>
              </a:spcAft>
              <a:buClr>
                <a:schemeClr val="accent1"/>
              </a:buClr>
              <a:buSzPct val="100000"/>
            </a:pPr>
            <a:endParaRPr lang="en-US" sz="1800" dirty="0"/>
          </a:p>
          <a:p>
            <a:pPr marL="279400" indent="-279400">
              <a:spcAft>
                <a:spcPts val="1000"/>
              </a:spcAft>
              <a:buClr>
                <a:schemeClr val="accent1"/>
              </a:buClr>
              <a:buSzPct val="100000"/>
              <a:buChar char="•"/>
            </a:pPr>
            <a:r>
              <a:rPr lang="en-US" sz="1800" dirty="0">
                <a:solidFill>
                  <a:schemeClr val="tx1"/>
                </a:solidFill>
              </a:rPr>
              <a:t>Why is it important right now?</a:t>
            </a:r>
          </a:p>
          <a:p>
            <a:pPr marL="279400" indent="-279400">
              <a:spcAft>
                <a:spcPts val="1000"/>
              </a:spcAft>
              <a:buClr>
                <a:schemeClr val="accent1"/>
              </a:buClr>
              <a:buSzPct val="100000"/>
              <a:buChar char="•"/>
            </a:pPr>
            <a:r>
              <a:rPr lang="en-GB" dirty="0"/>
              <a:t>The increasing use of online payments, social media, emails, and digital services has made students more exposed to phishing, fake websites, and online scams. Since these threats are becoming more difficult to recognize, an intelligent early-warning system is needed to help students identify and avoid potential cyber threats before they cause harm.</a:t>
            </a:r>
            <a:endParaRPr lang="en-US" sz="1800" dirty="0">
              <a:solidFill>
                <a:schemeClr val="tx1"/>
              </a:solidFill>
            </a:endParaRP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endParaRPr lang="en-US" sz="900" b="1" kern="0" spc="300" dirty="0">
              <a:solidFill>
                <a:schemeClr val="accent5"/>
              </a:solidFill>
            </a:endParaRPr>
          </a:p>
          <a:p>
            <a:r>
              <a:rPr lang="en-US" sz="1500" b="1" dirty="0">
                <a:solidFill>
                  <a:schemeClr val="accent1"/>
                </a:solidFill>
              </a:rPr>
              <a:t>BYTEBLAZE</a:t>
            </a:r>
            <a:endParaRPr lang="en-US" sz="1500" dirty="0"/>
          </a:p>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640080" y="2062066"/>
            <a:ext cx="10652760" cy="3993502"/>
          </a:xfrm>
          <a:prstGeom prst="rect">
            <a:avLst/>
          </a:prstGeom>
          <a:noFill/>
          <a:ln/>
        </p:spPr>
        <p:txBody>
          <a:bodyPr wrap="square" lIns="0" tIns="0" rIns="0" bIns="0" rtlCol="0" anchor="t"/>
          <a:lstStyle/>
          <a:p>
            <a:pPr marL="285750" indent="-285750">
              <a:spcAft>
                <a:spcPts val="1000"/>
              </a:spcAft>
              <a:buClr>
                <a:schemeClr val="accent1"/>
              </a:buClr>
              <a:buSzPct val="100000"/>
              <a:buFont typeface="Arial" panose="020B0604020202020204" pitchFamily="34" charset="0"/>
              <a:buChar char="•"/>
            </a:pPr>
            <a:r>
              <a:rPr lang="en-US" sz="1800" b="1" dirty="0">
                <a:solidFill>
                  <a:schemeClr val="tx1"/>
                </a:solidFill>
              </a:rPr>
              <a:t>Primary users / target group</a:t>
            </a:r>
          </a:p>
          <a:p>
            <a:pPr lvl="0"/>
            <a:r>
              <a:rPr lang="en-IN" dirty="0"/>
              <a:t>             School and college students who regularly use digital platforms.</a:t>
            </a:r>
          </a:p>
          <a:p>
            <a:pPr lvl="0"/>
            <a:r>
              <a:rPr lang="en-IN" dirty="0"/>
              <a:t>             Students receiving scholarship, internship, placement, and academic-related messages and emails.</a:t>
            </a:r>
          </a:p>
          <a:p>
            <a:pPr marL="285750" indent="-285750">
              <a:spcAft>
                <a:spcPts val="1000"/>
              </a:spcAft>
              <a:buClr>
                <a:schemeClr val="accent1"/>
              </a:buClr>
              <a:buSzPct val="100000"/>
              <a:buFont typeface="Arial" panose="020B0604020202020204" pitchFamily="34" charset="0"/>
              <a:buChar char="•"/>
            </a:pPr>
            <a:r>
              <a:rPr lang="en-US" dirty="0"/>
              <a:t> </a:t>
            </a:r>
            <a:r>
              <a:rPr lang="en-US" sz="1800" b="1" dirty="0">
                <a:solidFill>
                  <a:schemeClr val="tx1"/>
                </a:solidFill>
              </a:rPr>
              <a:t>Secondary stakeholders</a:t>
            </a:r>
          </a:p>
          <a:p>
            <a:pPr lvl="0"/>
            <a:r>
              <a:rPr lang="en-IN" dirty="0"/>
              <a:t>            Teachers and college administrators.</a:t>
            </a:r>
          </a:p>
          <a:p>
            <a:pPr lvl="0"/>
            <a:r>
              <a:rPr lang="en-IN" dirty="0"/>
              <a:t>            College IT departments and cybersecurity teams.</a:t>
            </a:r>
          </a:p>
          <a:p>
            <a:pPr lvl="0"/>
            <a:r>
              <a:rPr lang="en-IN" dirty="0"/>
              <a:t>            Parents and guardians.</a:t>
            </a:r>
          </a:p>
          <a:p>
            <a:pPr lvl="0"/>
            <a:r>
              <a:rPr lang="en-IN" dirty="0"/>
              <a:t>            Cybersecurity professionals and technology developers.</a:t>
            </a:r>
          </a:p>
          <a:p>
            <a:pPr marL="285750" indent="-285750">
              <a:spcAft>
                <a:spcPts val="1000"/>
              </a:spcAft>
              <a:buClr>
                <a:schemeClr val="accent1"/>
              </a:buClr>
              <a:buSzPct val="100000"/>
              <a:buFont typeface="Arial" panose="020B0604020202020204" pitchFamily="34" charset="0"/>
              <a:buChar char="•"/>
            </a:pPr>
            <a:r>
              <a:rPr lang="en-US" sz="1800" b="1" dirty="0">
                <a:solidFill>
                  <a:schemeClr val="tx1"/>
                </a:solidFill>
              </a:rPr>
              <a:t>Who benefits if the problem is solved?</a:t>
            </a:r>
          </a:p>
          <a:p>
            <a:pPr lvl="0"/>
            <a:r>
              <a:rPr lang="en-IN" b="1" dirty="0"/>
              <a:t>            Students:</a:t>
            </a:r>
            <a:r>
              <a:rPr lang="en-IN" dirty="0"/>
              <a:t> Reduced risk of phishing attacks, online scams, and personal data theft. </a:t>
            </a:r>
          </a:p>
          <a:p>
            <a:pPr lvl="0"/>
            <a:r>
              <a:rPr lang="en-IN" b="1" dirty="0"/>
              <a:t>            Educational Institutions:</a:t>
            </a:r>
            <a:r>
              <a:rPr lang="en-IN" dirty="0"/>
              <a:t> Improved cybersecurity awareness and safer digital learning environments.</a:t>
            </a:r>
          </a:p>
          <a:p>
            <a:pPr lvl="0"/>
            <a:r>
              <a:rPr lang="en-IN" b="1" dirty="0"/>
              <a:t>            Parents and Guardians:</a:t>
            </a:r>
            <a:r>
              <a:rPr lang="en-IN" dirty="0"/>
              <a:t> Greater confidence in students' online safety.</a:t>
            </a:r>
          </a:p>
          <a:p>
            <a:pPr lvl="0"/>
            <a:r>
              <a:rPr lang="en-IN" b="1" dirty="0"/>
              <a:t>            Society:</a:t>
            </a:r>
            <a:r>
              <a:rPr lang="en-IN" dirty="0"/>
              <a:t> Increased cyber awareness and safer digital interactions.</a:t>
            </a:r>
          </a:p>
          <a:p>
            <a:pPr>
              <a:spcAft>
                <a:spcPts val="1000"/>
              </a:spcAft>
              <a:buClr>
                <a:schemeClr val="accent1"/>
              </a:buClr>
              <a:buSzPct val="100000"/>
            </a:pPr>
            <a:endParaRPr lang="en-US" sz="1800" b="1" dirty="0">
              <a:solidFill>
                <a:schemeClr val="tx1"/>
              </a:solidFill>
            </a:endParaRPr>
          </a:p>
          <a:p>
            <a:pPr>
              <a:spcAft>
                <a:spcPts val="1000"/>
              </a:spcAft>
              <a:buClr>
                <a:schemeClr val="accent1"/>
              </a:buClr>
              <a:buSzPct val="100000"/>
            </a:pPr>
            <a:endParaRPr lang="en-US" sz="1800" b="1"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kern="0" spc="300" dirty="0">
                <a:solidFill>
                  <a:schemeClr val="accent5"/>
                </a:solidFill>
              </a:rPr>
              <a:t>BYTEBLAZE</a:t>
            </a:r>
            <a:endParaRPr lang="en-US" sz="15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914400" y="1987120"/>
            <a:ext cx="10424160" cy="4124431"/>
          </a:xfrm>
          <a:prstGeom prst="rect">
            <a:avLst/>
          </a:prstGeom>
          <a:noFill/>
          <a:ln/>
        </p:spPr>
        <p:txBody>
          <a:bodyPr wrap="square" lIns="0" tIns="0" rIns="0" bIns="0" rtlCol="0" anchor="t"/>
          <a:lstStyle/>
          <a:p>
            <a:pPr marL="285750" indent="-285750">
              <a:spcAft>
                <a:spcPts val="1000"/>
              </a:spcAft>
              <a:buClr>
                <a:schemeClr val="accent1"/>
              </a:buClr>
              <a:buSzPct val="100000"/>
              <a:buFont typeface="Arial" panose="020B0604020202020204" pitchFamily="34" charset="0"/>
              <a:buChar char="•"/>
            </a:pPr>
            <a:r>
              <a:rPr lang="en-US" sz="1800" b="1" dirty="0">
                <a:solidFill>
                  <a:schemeClr val="tx1"/>
                </a:solidFill>
              </a:rPr>
              <a:t>Existing scenario and background</a:t>
            </a:r>
          </a:p>
          <a:p>
            <a:pPr marL="285750" indent="-285750">
              <a:buFont typeface="Wingdings" panose="05000000000000000000" pitchFamily="2" charset="2"/>
              <a:buChar char="v"/>
            </a:pPr>
            <a:r>
              <a:rPr lang="en-IN" dirty="0"/>
              <a:t>Students frequently receive emails and links about scholarships, internships, placements, and academics, while cybercriminals use fake messages and websites to steal personal information.</a:t>
            </a:r>
          </a:p>
          <a:p>
            <a:pPr marL="285750" indent="-285750">
              <a:buFont typeface="Wingdings" panose="05000000000000000000" pitchFamily="2" charset="2"/>
              <a:buChar char="v"/>
            </a:pPr>
            <a:r>
              <a:rPr lang="en-IN" dirty="0"/>
              <a:t>Existing security tools may not always provide clear, student-friendly warnings, making it difficult for students to identify online threats.</a:t>
            </a:r>
          </a:p>
          <a:p>
            <a:pPr marL="285750" indent="-285750">
              <a:spcAft>
                <a:spcPts val="1000"/>
              </a:spcAft>
              <a:buClr>
                <a:schemeClr val="accent1"/>
              </a:buClr>
              <a:buSzPct val="100000"/>
              <a:buFont typeface="Arial" panose="020B0604020202020204" pitchFamily="34" charset="0"/>
              <a:buChar char="•"/>
            </a:pPr>
            <a:r>
              <a:rPr lang="en-US" sz="1800" b="1" dirty="0">
                <a:solidFill>
                  <a:schemeClr val="tx1"/>
                </a:solidFill>
              </a:rPr>
              <a:t>Relevant data or facts (if available)</a:t>
            </a:r>
          </a:p>
          <a:p>
            <a:pPr marL="285750" indent="-285750">
              <a:buFont typeface="Wingdings" panose="05000000000000000000" pitchFamily="2" charset="2"/>
              <a:buChar char="v"/>
            </a:pPr>
            <a:r>
              <a:rPr lang="en-IN" dirty="0"/>
              <a:t>India recorded 20,41,360 cybersecurity incidents in 2024, according to data reported by CERT-In. </a:t>
            </a:r>
          </a:p>
          <a:p>
            <a:r>
              <a:rPr lang="en-IN" dirty="0"/>
              <a:t>Press Information Bureau.</a:t>
            </a:r>
          </a:p>
          <a:p>
            <a:pPr marL="285750" indent="-285750">
              <a:buFont typeface="Wingdings" panose="05000000000000000000" pitchFamily="2" charset="2"/>
              <a:buChar char="v"/>
            </a:pPr>
            <a:r>
              <a:rPr lang="en-IN" dirty="0"/>
              <a:t>Phishing can use fake emails, deceptive messages, and imitation websites to steal personal information and account credentials.</a:t>
            </a:r>
            <a:endParaRPr lang="en-US" dirty="0"/>
          </a:p>
          <a:p>
            <a:pPr marL="285750" indent="-285750">
              <a:spcAft>
                <a:spcPts val="1000"/>
              </a:spcAft>
              <a:buClr>
                <a:schemeClr val="accent1"/>
              </a:buClr>
              <a:buSzPct val="100000"/>
              <a:buFont typeface="Arial" panose="020B0604020202020204" pitchFamily="34" charset="0"/>
              <a:buChar char="•"/>
            </a:pPr>
            <a:r>
              <a:rPr lang="en-US" sz="1800" b="1" dirty="0">
                <a:solidFill>
                  <a:schemeClr val="tx1"/>
                </a:solidFill>
              </a:rPr>
              <a:t>Current workflow, step by step</a:t>
            </a:r>
          </a:p>
          <a:p>
            <a:pPr marL="285750" indent="-285750">
              <a:spcAft>
                <a:spcPts val="1000"/>
              </a:spcAft>
              <a:buClr>
                <a:schemeClr val="accent1"/>
              </a:buClr>
              <a:buSzPct val="100000"/>
              <a:buFont typeface="Wingdings" panose="05000000000000000000" pitchFamily="2" charset="2"/>
              <a:buChar char="v"/>
            </a:pPr>
            <a:r>
              <a:rPr lang="en-IN" dirty="0"/>
              <a:t>Students receive a message or link, manually check its authenticity, verify the source, decide whether to interact with it, and report it if fraud is suspected.</a:t>
            </a:r>
            <a:endParaRPr lang="en-US" sz="1800" b="1"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67028" y="384048"/>
            <a:ext cx="1627632" cy="694944"/>
          </a:xfrm>
          <a:prstGeom prst="rect">
            <a:avLst/>
          </a:prstGeom>
          <a:noFill/>
          <a:ln/>
        </p:spPr>
        <p:txBody>
          <a:bodyPr wrap="square" lIns="0" tIns="0" rIns="0" bIns="0" rtlCol="0" anchor="ctr">
            <a:normAutofit fontScale="92500" lnSpcReduction="20000"/>
          </a:bodyPr>
          <a:lstStyle/>
          <a:p>
            <a:endParaRPr lang="en-US" sz="1500" b="1" kern="0" spc="300" dirty="0">
              <a:solidFill>
                <a:schemeClr val="accent5"/>
              </a:solidFill>
            </a:endParaRPr>
          </a:p>
          <a:p>
            <a:r>
              <a:rPr lang="en-US" sz="1500" b="1" kern="0" spc="300" dirty="0">
                <a:solidFill>
                  <a:schemeClr val="accent5"/>
                </a:solidFill>
              </a:rPr>
              <a:t>TEAM</a:t>
            </a:r>
            <a:endParaRPr lang="en-US" sz="1500" dirty="0"/>
          </a:p>
          <a:p>
            <a:endParaRPr lang="en-US" sz="1500" b="1" dirty="0">
              <a:solidFill>
                <a:schemeClr val="accent1"/>
              </a:solidFill>
            </a:endParaRPr>
          </a:p>
          <a:p>
            <a:r>
              <a:rPr lang="en-US" sz="1600" b="1" dirty="0">
                <a:solidFill>
                  <a:schemeClr val="accent1"/>
                </a:solidFill>
              </a:rPr>
              <a:t>BYTEBLAZE</a:t>
            </a:r>
            <a:endParaRPr lang="en-US" sz="1600" dirty="0"/>
          </a:p>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736092" y="2148839"/>
            <a:ext cx="10424160" cy="3841413"/>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a:solidFill>
                  <a:schemeClr val="tx1"/>
                </a:solidFill>
              </a:rPr>
              <a:t>Main difficulties and bottlenecks</a:t>
            </a:r>
          </a:p>
          <a:p>
            <a:pPr marL="342900" lvl="0" indent="-342900">
              <a:buFont typeface="+mj-lt"/>
              <a:buAutoNum type="arabicPeriod"/>
            </a:pPr>
            <a:r>
              <a:rPr lang="en-IN" dirty="0"/>
              <a:t>Difficulty identifying fake links, phishing messages, and fraudulent websites.</a:t>
            </a:r>
          </a:p>
          <a:p>
            <a:pPr marL="342900" lvl="0" indent="-342900">
              <a:buFont typeface="+mj-lt"/>
              <a:buAutoNum type="arabicPeriod"/>
            </a:pPr>
            <a:r>
              <a:rPr lang="en-IN" dirty="0"/>
              <a:t>Lack of quick and reliable tools that provide clear warnings before students interact with suspicious content.</a:t>
            </a:r>
          </a:p>
          <a:p>
            <a:pPr marL="285750" indent="-285750">
              <a:spcAft>
                <a:spcPts val="1000"/>
              </a:spcAft>
              <a:buClr>
                <a:schemeClr val="accent1"/>
              </a:buClr>
              <a:buSzPct val="100000"/>
              <a:buFont typeface="Arial" panose="020B0604020202020204" pitchFamily="34" charset="0"/>
              <a:buChar char="•"/>
            </a:pPr>
            <a:endParaRPr lang="en-US" b="1" dirty="0"/>
          </a:p>
          <a:p>
            <a:pPr marL="285750" indent="-285750">
              <a:spcAft>
                <a:spcPts val="1000"/>
              </a:spcAft>
              <a:buClr>
                <a:schemeClr val="accent1"/>
              </a:buClr>
              <a:buSzPct val="100000"/>
              <a:buFont typeface="Arial" panose="020B0604020202020204" pitchFamily="34" charset="0"/>
              <a:buChar char="•"/>
            </a:pPr>
            <a:r>
              <a:rPr lang="en-US" sz="1800" b="1" dirty="0">
                <a:solidFill>
                  <a:schemeClr val="tx1"/>
                </a:solidFill>
              </a:rPr>
              <a:t>Root causes behind them</a:t>
            </a:r>
          </a:p>
          <a:p>
            <a:pPr marL="342900" indent="-342900">
              <a:spcAft>
                <a:spcPts val="1000"/>
              </a:spcAft>
              <a:buClr>
                <a:schemeClr val="accent1"/>
              </a:buClr>
              <a:buSzPct val="100000"/>
              <a:buFont typeface="+mj-lt"/>
              <a:buAutoNum type="arabicPeriod"/>
            </a:pPr>
            <a:r>
              <a:rPr lang="en-IN" dirty="0"/>
              <a:t>Limited cybersecurity awareness among students.</a:t>
            </a:r>
          </a:p>
          <a:p>
            <a:pPr marL="342900" indent="-342900">
              <a:spcAft>
                <a:spcPts val="1000"/>
              </a:spcAft>
              <a:buClr>
                <a:schemeClr val="accent1"/>
              </a:buClr>
              <a:buSzPct val="100000"/>
              <a:buFont typeface="+mj-lt"/>
              <a:buAutoNum type="arabicPeriod"/>
            </a:pPr>
            <a:r>
              <a:rPr lang="en-IN" dirty="0"/>
              <a:t>Cybercriminals create convincing fake messages and websites that imitate trusted organizations.</a:t>
            </a:r>
          </a:p>
          <a:p>
            <a:pPr marL="285750" indent="-285750">
              <a:spcAft>
                <a:spcPts val="1000"/>
              </a:spcAft>
              <a:buClr>
                <a:schemeClr val="accent1"/>
              </a:buClr>
              <a:buSzPct val="100000"/>
              <a:buFont typeface="Arial" panose="020B0604020202020204" pitchFamily="34" charset="0"/>
              <a:buChar char="•"/>
            </a:pPr>
            <a:r>
              <a:rPr lang="en-US" sz="1800" b="1" dirty="0">
                <a:solidFill>
                  <a:schemeClr val="tx1"/>
                </a:solidFill>
              </a:rPr>
              <a:t>Consequences of leaving them unsolved</a:t>
            </a:r>
          </a:p>
          <a:p>
            <a:pPr marL="342900" lvl="0" indent="-342900">
              <a:buFont typeface="+mj-lt"/>
              <a:buAutoNum type="arabicPeriod"/>
            </a:pPr>
            <a:r>
              <a:rPr lang="en-IN" dirty="0"/>
              <a:t>Theft of personal information, passwords, and sensitive data.</a:t>
            </a:r>
          </a:p>
          <a:p>
            <a:pPr marL="342900" lvl="0" indent="-342900">
              <a:buFont typeface="+mj-lt"/>
              <a:buAutoNum type="arabicPeriod"/>
            </a:pPr>
            <a:r>
              <a:rPr lang="en-IN" dirty="0"/>
              <a:t>Financial losses, compromised accounts, and increased vulnerability to online scams.</a:t>
            </a:r>
          </a:p>
          <a:p>
            <a:pPr>
              <a:spcAft>
                <a:spcPts val="1000"/>
              </a:spcAft>
              <a:buClr>
                <a:schemeClr val="accent1"/>
              </a:buClr>
              <a:buSzPct val="100000"/>
            </a:pPr>
            <a:endParaRPr lang="en-US" sz="1800" dirty="0">
              <a:solidFill>
                <a:schemeClr val="tx1"/>
              </a:solidFill>
            </a:endParaRP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BYTEBLAZE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39"/>
            <a:ext cx="10424160" cy="3962711"/>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methods, systems or alternatives</a:t>
            </a:r>
          </a:p>
          <a:p>
            <a:pPr marL="342900" lvl="0" indent="-342900">
              <a:buFont typeface="+mj-lt"/>
              <a:buAutoNum type="alphaLcPeriod"/>
            </a:pPr>
            <a:r>
              <a:rPr lang="en-IN" dirty="0"/>
              <a:t>Antivirus software and browser security features that detect malicious websites and links.</a:t>
            </a:r>
          </a:p>
          <a:p>
            <a:pPr marL="342900" lvl="0" indent="-342900">
              <a:buFont typeface="+mj-lt"/>
              <a:buAutoNum type="alphaLcPeriod"/>
            </a:pPr>
            <a:r>
              <a:rPr lang="en-IN" dirty="0"/>
              <a:t>Email spam filters and online URL-checking tools that identify suspicious messages and websites.</a:t>
            </a:r>
          </a:p>
          <a:p>
            <a:pPr marL="279400" indent="-279400">
              <a:spcAft>
                <a:spcPts val="1000"/>
              </a:spcAft>
              <a:buClr>
                <a:schemeClr val="accent1"/>
              </a:buClr>
              <a:buSzPct val="100000"/>
              <a:buChar char="•"/>
            </a:pPr>
            <a:endParaRPr lang="en-US" sz="1800" dirty="0"/>
          </a:p>
          <a:p>
            <a:pPr marL="279400" indent="-279400">
              <a:spcAft>
                <a:spcPts val="1000"/>
              </a:spcAft>
              <a:buClr>
                <a:schemeClr val="accent1"/>
              </a:buClr>
              <a:buSzPct val="100000"/>
              <a:buChar char="•"/>
            </a:pPr>
            <a:r>
              <a:rPr lang="en-US" sz="1800" dirty="0">
                <a:solidFill>
                  <a:schemeClr val="tx1"/>
                </a:solidFill>
              </a:rPr>
              <a:t>Limitations of each</a:t>
            </a:r>
          </a:p>
          <a:p>
            <a:pPr marL="342900" lvl="0" indent="-342900">
              <a:buFont typeface="+mj-lt"/>
              <a:buAutoNum type="alphaLcPeriod"/>
            </a:pPr>
            <a:r>
              <a:rPr lang="en-IN" dirty="0"/>
              <a:t>They may fail to detect newly created or cleverly disguised phishing attacks.</a:t>
            </a:r>
          </a:p>
          <a:p>
            <a:pPr marL="342900" lvl="0" indent="-342900">
              <a:buFont typeface="+mj-lt"/>
              <a:buAutoNum type="alphaLcPeriod"/>
            </a:pPr>
            <a:r>
              <a:rPr lang="en-IN" dirty="0"/>
              <a:t>They may provide limited explanations that are easy for students to understand.</a:t>
            </a:r>
          </a:p>
          <a:p>
            <a:pPr marL="279400" indent="-279400">
              <a:spcAft>
                <a:spcPts val="1000"/>
              </a:spcAft>
              <a:buClr>
                <a:schemeClr val="accent1"/>
              </a:buClr>
              <a:buSzPct val="100000"/>
              <a:buChar char="•"/>
            </a:pPr>
            <a:endParaRPr lang="en-US" sz="1800" dirty="0"/>
          </a:p>
          <a:p>
            <a:pPr marL="279400" indent="-279400">
              <a:spcAft>
                <a:spcPts val="1000"/>
              </a:spcAft>
              <a:buClr>
                <a:schemeClr val="accent1"/>
              </a:buClr>
              <a:buSzPct val="100000"/>
              <a:buChar char="•"/>
            </a:pPr>
            <a:r>
              <a:rPr lang="en-US" sz="1800" dirty="0">
                <a:solidFill>
                  <a:schemeClr val="tx1"/>
                </a:solidFill>
              </a:rPr>
              <a:t>The gap they leave open (Key Challenges)</a:t>
            </a:r>
          </a:p>
          <a:p>
            <a:pPr marL="342900" lvl="0" indent="-342900">
              <a:buFont typeface="+mj-lt"/>
              <a:buAutoNum type="alphaLcPeriod"/>
            </a:pPr>
            <a:r>
              <a:rPr lang="en-IN" dirty="0"/>
              <a:t>Lack of a simple, student-focused tool that checks suspicious links and messages in one place.</a:t>
            </a:r>
          </a:p>
          <a:p>
            <a:pPr marL="342900" lvl="0" indent="-342900">
              <a:buFont typeface="+mj-lt"/>
              <a:buAutoNum type="alphaLcPeriod"/>
            </a:pPr>
            <a:r>
              <a:rPr lang="en-IN" dirty="0"/>
              <a:t>Need for clear, understandable warnings that explain potential threats and recommend safe actions.</a:t>
            </a: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BYTEBLAZE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579730" y="1463040"/>
            <a:ext cx="334670" cy="334670"/>
          </a:xfrm>
          <a:prstGeom prst="rect">
            <a:avLst/>
          </a:prstGeom>
        </p:spPr>
      </p:pic>
      <p:sp>
        <p:nvSpPr>
          <p:cNvPr id="9" name="Lead Text"/>
          <p:cNvSpPr txBox="1"/>
          <p:nvPr/>
        </p:nvSpPr>
        <p:spPr>
          <a:xfrm>
            <a:off x="1170432" y="1280160"/>
            <a:ext cx="9601200" cy="533095"/>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34847" y="1858061"/>
            <a:ext cx="10424160" cy="4356128"/>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a:solidFill>
                  <a:schemeClr val="tx1"/>
                </a:solidFill>
              </a:rPr>
              <a:t>Hardware Requirements</a:t>
            </a:r>
          </a:p>
          <a:p>
            <a:pPr marL="285750" lvl="0" indent="-285750">
              <a:buFont typeface="Wingdings" panose="05000000000000000000" pitchFamily="2" charset="2"/>
              <a:buChar char="Ø"/>
            </a:pPr>
            <a:r>
              <a:rPr lang="en-IN" dirty="0"/>
              <a:t>Laptop or computer with a stable internet connection.</a:t>
            </a:r>
          </a:p>
          <a:p>
            <a:pPr marL="285750" lvl="0" indent="-285750">
              <a:buFont typeface="Wingdings" panose="05000000000000000000" pitchFamily="2" charset="2"/>
              <a:buChar char="Ø"/>
            </a:pPr>
            <a:r>
              <a:rPr lang="en-IN" dirty="0"/>
              <a:t>Smartphone for testing messages and links.</a:t>
            </a:r>
            <a:endParaRPr lang="en-US" sz="1800" dirty="0"/>
          </a:p>
          <a:p>
            <a:pPr marL="279400" indent="-279400">
              <a:spcAft>
                <a:spcPts val="1000"/>
              </a:spcAft>
              <a:buClr>
                <a:schemeClr val="accent1"/>
              </a:buClr>
              <a:buSzPct val="100000"/>
              <a:buChar char="•"/>
            </a:pPr>
            <a:r>
              <a:rPr lang="en-US" sz="1800" b="1" dirty="0">
                <a:solidFill>
                  <a:schemeClr val="tx1"/>
                </a:solidFill>
              </a:rPr>
              <a:t>Software Requirements</a:t>
            </a:r>
          </a:p>
          <a:p>
            <a:pPr marL="285750" indent="-285750">
              <a:spcAft>
                <a:spcPts val="1000"/>
              </a:spcAft>
              <a:buClr>
                <a:schemeClr val="accent1"/>
              </a:buClr>
              <a:buSzPct val="100000"/>
              <a:buFont typeface="Wingdings" panose="05000000000000000000" pitchFamily="2" charset="2"/>
              <a:buChar char="Ø"/>
            </a:pPr>
            <a:r>
              <a:rPr lang="en-US" dirty="0"/>
              <a:t>Python and JavaScript , AI/ML frameworks and models </a:t>
            </a:r>
          </a:p>
          <a:p>
            <a:pPr marL="285750" indent="-285750">
              <a:spcAft>
                <a:spcPts val="1000"/>
              </a:spcAft>
              <a:buClr>
                <a:schemeClr val="accent1"/>
              </a:buClr>
              <a:buSzPct val="100000"/>
              <a:buFont typeface="Wingdings" panose="05000000000000000000" pitchFamily="2" charset="2"/>
              <a:buChar char="Ø"/>
            </a:pPr>
            <a:r>
              <a:rPr lang="en-US" dirty="0"/>
              <a:t>Visual Studio Code and GitHub , Database and cloud services</a:t>
            </a:r>
          </a:p>
          <a:p>
            <a:pPr marL="285750" indent="-285750">
              <a:spcAft>
                <a:spcPts val="1000"/>
              </a:spcAft>
              <a:buClr>
                <a:schemeClr val="accent1"/>
              </a:buClr>
              <a:buSzPct val="100000"/>
              <a:buFont typeface="Wingdings" panose="05000000000000000000" pitchFamily="2" charset="2"/>
              <a:buChar char="Ø"/>
            </a:pPr>
            <a:r>
              <a:rPr lang="en-US" dirty="0"/>
              <a:t> Web or mobile application development tools</a:t>
            </a:r>
          </a:p>
          <a:p>
            <a:pPr marL="285750" indent="-285750">
              <a:spcAft>
                <a:spcPts val="1000"/>
              </a:spcAft>
              <a:buClr>
                <a:schemeClr val="accent1"/>
              </a:buClr>
              <a:buSzPct val="100000"/>
              <a:buFont typeface="Arial" panose="020B0604020202020204" pitchFamily="34" charset="0"/>
              <a:buChar char="•"/>
            </a:pPr>
            <a:r>
              <a:rPr lang="en-US" sz="1800" b="1" dirty="0">
                <a:solidFill>
                  <a:schemeClr val="tx1"/>
                </a:solidFill>
              </a:rPr>
              <a:t>Other resources (Including Human Resources)</a:t>
            </a:r>
          </a:p>
          <a:p>
            <a:pPr marL="285750" indent="-285750">
              <a:spcAft>
                <a:spcPts val="1000"/>
              </a:spcAft>
              <a:buClr>
                <a:schemeClr val="accent1"/>
              </a:buClr>
              <a:buSzPct val="100000"/>
              <a:buFont typeface="Wingdings" panose="05000000000000000000" pitchFamily="2" charset="2"/>
              <a:buChar char="Ø"/>
            </a:pPr>
            <a:r>
              <a:rPr lang="en-US" dirty="0"/>
              <a:t>AI/ML developers</a:t>
            </a:r>
          </a:p>
          <a:p>
            <a:pPr marL="285750" indent="-285750">
              <a:spcAft>
                <a:spcPts val="1000"/>
              </a:spcAft>
              <a:buClr>
                <a:schemeClr val="accent1"/>
              </a:buClr>
              <a:buSzPct val="100000"/>
              <a:buFont typeface="Wingdings" panose="05000000000000000000" pitchFamily="2" charset="2"/>
              <a:buChar char="Ø"/>
            </a:pPr>
            <a:r>
              <a:rPr lang="en-US" dirty="0"/>
              <a:t>Software developers</a:t>
            </a:r>
          </a:p>
          <a:p>
            <a:pPr marL="285750" indent="-285750">
              <a:spcAft>
                <a:spcPts val="1000"/>
              </a:spcAft>
              <a:buClr>
                <a:schemeClr val="accent1"/>
              </a:buClr>
              <a:buSzPct val="100000"/>
              <a:buFont typeface="Wingdings" panose="05000000000000000000" pitchFamily="2" charset="2"/>
              <a:buChar char="Ø"/>
            </a:pPr>
            <a:r>
              <a:rPr lang="en-US" dirty="0"/>
              <a:t>UI/UX designers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BYTEBLAZE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4065348"/>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a:solidFill>
                  <a:schemeClr val="tx1"/>
                </a:solidFill>
              </a:rPr>
              <a:t>What your team intends to do</a:t>
            </a:r>
          </a:p>
          <a:p>
            <a:pPr marL="285750" indent="-285750">
              <a:spcAft>
                <a:spcPts val="1000"/>
              </a:spcAft>
              <a:buClr>
                <a:schemeClr val="accent1"/>
              </a:buClr>
              <a:buSzPct val="100000"/>
              <a:buFont typeface="Wingdings" panose="05000000000000000000" pitchFamily="2" charset="2"/>
              <a:buChar char="ü"/>
            </a:pPr>
            <a:r>
              <a:rPr lang="en-US" dirty="0"/>
              <a:t>Develop an AI-powered intelligent system to solve real-world problems through data analysis and automation.</a:t>
            </a:r>
            <a:endParaRPr lang="en-US" sz="1800" dirty="0"/>
          </a:p>
          <a:p>
            <a:pPr marL="279400" indent="-279400">
              <a:spcAft>
                <a:spcPts val="1000"/>
              </a:spcAft>
              <a:buClr>
                <a:schemeClr val="accent1"/>
              </a:buClr>
              <a:buSzPct val="100000"/>
              <a:buChar char="•"/>
            </a:pPr>
            <a:endParaRPr lang="en-US" sz="1800" dirty="0">
              <a:solidFill>
                <a:schemeClr val="tx1"/>
              </a:solidFill>
            </a:endParaRPr>
          </a:p>
          <a:p>
            <a:pPr marL="279400" indent="-279400">
              <a:spcAft>
                <a:spcPts val="1000"/>
              </a:spcAft>
              <a:buClr>
                <a:schemeClr val="accent1"/>
              </a:buClr>
              <a:buSzPct val="100000"/>
              <a:buChar char="•"/>
            </a:pPr>
            <a:r>
              <a:rPr lang="en-US" sz="1800" b="1" dirty="0">
                <a:solidFill>
                  <a:schemeClr val="tx1"/>
                </a:solidFill>
              </a:rPr>
              <a:t>What you want to improve</a:t>
            </a:r>
          </a:p>
          <a:p>
            <a:pPr marL="285750" indent="-285750">
              <a:spcAft>
                <a:spcPts val="1000"/>
              </a:spcAft>
              <a:buClr>
                <a:schemeClr val="accent1"/>
              </a:buClr>
              <a:buSzPct val="100000"/>
              <a:buFont typeface="Wingdings" panose="05000000000000000000" pitchFamily="2" charset="2"/>
              <a:buChar char="ü"/>
            </a:pPr>
            <a:r>
              <a:rPr lang="en-US" dirty="0"/>
              <a:t> Improve efficiency, accuracy, accessibility, and decision-making while reducing manual effort.</a:t>
            </a:r>
            <a:endParaRPr lang="en-US" sz="1800" dirty="0"/>
          </a:p>
          <a:p>
            <a:pPr marL="279400" indent="-279400">
              <a:spcAft>
                <a:spcPts val="1000"/>
              </a:spcAft>
              <a:buClr>
                <a:schemeClr val="accent1"/>
              </a:buClr>
              <a:buSzPct val="100000"/>
              <a:buChar char="•"/>
            </a:pPr>
            <a:endParaRPr lang="en-US" sz="1800" b="1" dirty="0">
              <a:solidFill>
                <a:schemeClr val="tx1"/>
              </a:solidFill>
            </a:endParaRPr>
          </a:p>
          <a:p>
            <a:pPr marL="279400" indent="-279400">
              <a:spcAft>
                <a:spcPts val="1000"/>
              </a:spcAft>
              <a:buClr>
                <a:schemeClr val="accent1"/>
              </a:buClr>
              <a:buSzPct val="100000"/>
              <a:buChar char="•"/>
            </a:pPr>
            <a:r>
              <a:rPr lang="en-US" sz="1800" b="1" dirty="0">
                <a:solidFill>
                  <a:schemeClr val="tx1"/>
                </a:solidFill>
              </a:rPr>
              <a:t>What successful improvement should you achieve</a:t>
            </a:r>
          </a:p>
          <a:p>
            <a:pPr marL="285750" indent="-285750">
              <a:spcAft>
                <a:spcPts val="1000"/>
              </a:spcAft>
              <a:buClr>
                <a:schemeClr val="accent1"/>
              </a:buClr>
              <a:buSzPct val="100000"/>
              <a:buFont typeface="Wingdings" panose="05000000000000000000" pitchFamily="2" charset="2"/>
              <a:buChar char="ü"/>
            </a:pPr>
            <a:r>
              <a:rPr lang="en-US" dirty="0"/>
              <a:t>Build a functional prototype that demonstrates measurable improvements in productivity and problem-solving.</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BYEBLAZE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1485448899"/>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dirty="0">
                          <a:latin typeface="Calibri" charset="0"/>
                          <a:ea typeface="Calibri" charset="0"/>
                          <a:cs typeface="Calibri" charset="0"/>
                        </a:rPr>
                        <a:t>Harini S</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CB.SC.U4CSE26720</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Current situation &amp; context</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dirty="0">
                          <a:latin typeface="Calibri" charset="0"/>
                          <a:ea typeface="Calibri" charset="0"/>
                          <a:cs typeface="Calibri" charset="0"/>
                        </a:rPr>
                        <a:t>Nikitha Varshini Parthiban</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accent5"/>
                          </a:solidFill>
                          <a:latin typeface="Calibri" pitchFamily="34" charset="0"/>
                          <a:ea typeface="Calibri" pitchFamily="34" charset="-122"/>
                          <a:cs typeface="Calibri" pitchFamily="34" charset="-120"/>
                        </a:rPr>
                        <a:t>CB.SC.U4CSE26739</a:t>
                      </a:r>
                      <a:endParaRPr lang="en-US" sz="1400" dirty="0">
                        <a:latin typeface="Calibri" charset="0"/>
                        <a:ea typeface="Calibri" charset="0"/>
                        <a:cs typeface="Calibri" charset="0"/>
                      </a:endParaRPr>
                    </a:p>
                    <a:p>
                      <a:pPr marL="0" indent="0">
                        <a:buNone/>
                      </a:pP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Existing solutions/approaches</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dirty="0" err="1">
                          <a:latin typeface="Calibri" charset="0"/>
                          <a:ea typeface="Calibri" charset="0"/>
                          <a:cs typeface="Calibri" charset="0"/>
                        </a:rPr>
                        <a:t>LasyaPriya</a:t>
                      </a:r>
                      <a:r>
                        <a:rPr lang="en-US" sz="1400" dirty="0">
                          <a:latin typeface="Calibri" charset="0"/>
                          <a:ea typeface="Calibri" charset="0"/>
                          <a:cs typeface="Calibri" charset="0"/>
                        </a:rPr>
                        <a:t> C</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accent5"/>
                          </a:solidFill>
                          <a:latin typeface="Calibri" pitchFamily="34" charset="0"/>
                          <a:ea typeface="Calibri" pitchFamily="34" charset="-122"/>
                          <a:cs typeface="Calibri" pitchFamily="34" charset="-120"/>
                        </a:rPr>
                        <a:t>CB.SC.U4CSE26769</a:t>
                      </a:r>
                      <a:endParaRPr lang="en-US" sz="1400" dirty="0">
                        <a:latin typeface="Calibri" charset="0"/>
                        <a:ea typeface="Calibri" charset="0"/>
                        <a:cs typeface="Calibri" charset="0"/>
                      </a:endParaRPr>
                    </a:p>
                    <a:p>
                      <a:pPr marL="0" indent="0">
                        <a:buNone/>
                      </a:pP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Initial direction &amp; expected outcome</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dirty="0" err="1">
                          <a:latin typeface="Calibri" charset="0"/>
                          <a:ea typeface="Calibri" charset="0"/>
                          <a:cs typeface="Calibri" charset="0"/>
                        </a:rPr>
                        <a:t>Riduvarshini</a:t>
                      </a:r>
                      <a:r>
                        <a:rPr lang="en-US" sz="1400" dirty="0">
                          <a:latin typeface="Calibri" charset="0"/>
                          <a:ea typeface="Calibri" charset="0"/>
                          <a:cs typeface="Calibri" charset="0"/>
                        </a:rPr>
                        <a:t> D</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accent5"/>
                          </a:solidFill>
                          <a:latin typeface="Calibri" pitchFamily="34" charset="0"/>
                          <a:ea typeface="Calibri" pitchFamily="34" charset="-122"/>
                          <a:cs typeface="Calibri" pitchFamily="34" charset="-120"/>
                        </a:rPr>
                        <a:t>CB.SC.U4CSE26342</a:t>
                      </a:r>
                      <a:endParaRPr lang="en-US" sz="1400" dirty="0">
                        <a:latin typeface="Calibri" charset="0"/>
                        <a:ea typeface="Calibri" charset="0"/>
                        <a:cs typeface="Calibri" charset="0"/>
                      </a:endParaRPr>
                    </a:p>
                    <a:p>
                      <a:pPr marL="0" indent="0">
                        <a:buNone/>
                      </a:pP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a:latin typeface="Calibri" charset="0"/>
                          <a:ea typeface="Calibri" charset="0"/>
                          <a:cs typeface="Calibri" charset="0"/>
                        </a:rPr>
                        <a:t>Key challenges</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970</Words>
  <Application>Microsoft Office PowerPoint</Application>
  <PresentationFormat>Widescreen</PresentationFormat>
  <Paragraphs>147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Wingdings</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 Harini</cp:lastModifiedBy>
  <cp:revision>3</cp:revision>
  <dcterms:created xsi:type="dcterms:W3CDTF">2026-10-07T15:27:40Z</dcterms:created>
  <dcterms:modified xsi:type="dcterms:W3CDTF">2026-10-10T05:18:56Z</dcterms:modified>
</cp:coreProperties>
</file>